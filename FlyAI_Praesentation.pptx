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5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1A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37760" y="1097280"/>
            <a:ext cx="2286000" cy="502920"/>
          </a:xfrm>
          <a:prstGeom prst="roundRect">
            <a:avLst>
              <a:gd name="adj" fmla="val 30000"/>
            </a:avLst>
          </a:prstGeom>
          <a:solidFill>
            <a:srgbClr val="1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1155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C8FA"/>
                </a:solidFill>
                <a:latin typeface="Calibri"/>
              </a:defRPr>
            </a:pPr>
            <a:r>
              <a:t>KI-gestuetzte Reiseplattform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FlyAI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20040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Calibri"/>
              </a:defRPr>
            </a:pPr>
            <a:r>
              <a:t>Intelligente Reiseplattform mit KI-Chatbot,</a:t>
            </a:r>
            <a:br/>
            <a:r>
              <a:t>Flug- &amp; Hotelsuche, Visa-Check &amp; Reiseberatung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206240"/>
            <a:ext cx="192024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0" y="4572000"/>
            <a:ext cx="1024128" cy="411480"/>
          </a:xfrm>
          <a:prstGeom prst="roundRect">
            <a:avLst>
              <a:gd name="adj" fmla="val 30000"/>
            </a:avLst>
          </a:prstGeom>
          <a:solidFill>
            <a:srgbClr val="1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590288"/>
            <a:ext cx="10241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C8FA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1608" y="4572000"/>
            <a:ext cx="1133856" cy="411480"/>
          </a:xfrm>
          <a:prstGeom prst="roundRect">
            <a:avLst>
              <a:gd name="adj" fmla="val 30000"/>
            </a:avLst>
          </a:prstGeom>
          <a:solidFill>
            <a:srgbClr val="1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4590288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C8FA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4" y="4572000"/>
            <a:ext cx="1682495" cy="411480"/>
          </a:xfrm>
          <a:prstGeom prst="roundRect">
            <a:avLst>
              <a:gd name="adj" fmla="val 30000"/>
            </a:avLst>
          </a:prstGeom>
          <a:solidFill>
            <a:srgbClr val="1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4590288"/>
            <a:ext cx="16824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C8FA"/>
                </a:solidFill>
                <a:latin typeface="Calibri"/>
              </a:defRPr>
            </a:pPr>
            <a:r>
              <a:t>OpenAI GPT-4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79" y="4572000"/>
            <a:ext cx="2231136" cy="411480"/>
          </a:xfrm>
          <a:prstGeom prst="roundRect">
            <a:avLst>
              <a:gd name="adj" fmla="val 30000"/>
            </a:avLst>
          </a:prstGeom>
          <a:solidFill>
            <a:srgbClr val="1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4590288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C8FA"/>
                </a:solidFill>
                <a:latin typeface="Calibri"/>
              </a:defRPr>
            </a:pPr>
            <a:r>
              <a:t>Structured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0576" y="4572000"/>
            <a:ext cx="2011679" cy="411480"/>
          </a:xfrm>
          <a:prstGeom prst="roundRect">
            <a:avLst>
              <a:gd name="adj" fmla="val 30000"/>
            </a:avLst>
          </a:prstGeom>
          <a:solidFill>
            <a:srgbClr val="15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4590288"/>
            <a:ext cx="2011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C8FA"/>
                </a:solidFill>
                <a:latin typeface="Calibri"/>
              </a:defRPr>
            </a:pPr>
            <a:r>
              <a:t>Liquid Glass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Aryan Sakhi  |  Masterschool GenAI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375F"/>
                </a:solidFill>
                <a:latin typeface="Calibri"/>
              </a:defRPr>
            </a:pPr>
            <a: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Warum FlyAI?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12344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0800" cy="123444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Fragmentierte Suche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Nutzer muessen zwischen 5+ Plattformen wechseln fuer Fluege, Hotels, Visa-Infos und Reisewarnungen.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029200" cy="12344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50800" cy="123444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Keine intelligente Beratung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Keine Plattform kombiniert KI-Chat mit Echtzeit-Flugsuche und automatischen Visa-Checks.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5029200" cy="12344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50800" cy="123444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Info-Overload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66359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Reiseplanung ist zeitaufwendig: Budget, Packliste, beste Reisezeit — alles verstreut.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D158"/>
                </a:solidFill>
                <a:latin typeface="Calibri"/>
              </a:defRPr>
            </a:pPr>
            <a:r>
              <a:t>Die Loesung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822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Alles in einer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17320"/>
            <a:ext cx="1371600" cy="508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920240"/>
            <a:ext cx="5029200" cy="12344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920240"/>
            <a:ext cx="50800" cy="12344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Zentrale Plattform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4231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Fluege, Hotels, Mietwagen und Aktivitaeten — alles an einem Ort suchen und vergleichen.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291840"/>
            <a:ext cx="5029200" cy="12344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291840"/>
            <a:ext cx="50800" cy="12344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429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KI-Reiseberater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794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GPT-4o-mini Chatbot mit 10+ Intent-Typen: Fluege, Hotels, Pakete, Budget, Packliste, Vergleiche.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663440"/>
            <a:ext cx="5029200" cy="12344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663440"/>
            <a:ext cx="50800" cy="123444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Automatische Reise-Infos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166359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Visa-Check, Reisewarnungen vom Auswaertigen Amt, Sicherheitshinweise — alles automatisch.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Was FlyAI kann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457200" cy="381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AC8F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Flugsuche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Echtzeit-Suche via Skyscanner API mit Filtern nach Airline, Preis, Stops und Reisedauer.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202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2057400"/>
            <a:ext cx="457200" cy="381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86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F5AF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88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Hotelsuche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1546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Hotels weltweit vergleichen mit Preisen, Bewertungen und Standort-Infos.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2024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2057400"/>
            <a:ext cx="457200" cy="381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D15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889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KI-Chatbot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15468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GPT-4o-mini mit 10+ Intents: Fluege, Hotels, Pakete, Inspiration, Vergleich, Packliste, Budget.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389120"/>
            <a:ext cx="457200" cy="381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9F0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Visa &amp; Sicherheit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Automatische Visa-Infos + Reisewarnungen vom Auswaertigen Amt fuer 45+ Laender.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2519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4389120"/>
            <a:ext cx="457200" cy="3810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4617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375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120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Mietwagen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548640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Mietwagen-Suche mit Vergleich von Sixt, Europcar, Hertz und Enterprise.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425196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4389120"/>
            <a:ext cx="457200" cy="381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6177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AC8FA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1206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Aktivitaeten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548640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Kultur, Abenteuer, Food-Tours — Aktivitaeten fuer jedes Reiseziel entdecken.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System-Design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0040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AC8F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HTML5 / CSS3 / Vanilla JS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Apple Liquid Glass Design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Clash Display + Satoshi Fonts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4 Seiten: Fluege, Hotels,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  Mietwagen, Aktivitaeten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Responsive (Mobile/Tablet)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XSS-Schutz (textContent)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Accessibility (ARIA Labels)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3749039"/>
            <a:ext cx="914400" cy="457200"/>
          </a:xfrm>
          <a:prstGeom prst="rightArrow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12080" y="2011680"/>
            <a:ext cx="320040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F5AF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Python 3.13 + FastAPI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SQLModel + SQLite (4 Tabellen)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20+ REST Endpunkte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Rate Limiting (SlowAPI)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Security Headers Middleware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Input Sanitization (bleach)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bcrypt Passwort-Hashing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Structured Output (JSON Mode)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95360" y="3749039"/>
            <a:ext cx="914400" cy="457200"/>
          </a:xfrm>
          <a:prstGeom prst="rightArrow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2011680"/>
            <a:ext cx="201168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0A"/>
                </a:solidFill>
                <a:latin typeface="Calibri"/>
              </a:defRPr>
            </a:pPr>
            <a:r>
              <a:t>EXTERNE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560320"/>
            <a:ext cx="1645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OpenAI GPT-4o-mini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Skyscanner API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Sky-Scrapper API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Calibri"/>
              </a:defRPr>
            </a:pPr>
            <a:r>
              <a:t>Auswaertiges Amt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KI-Integration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Intelligenter Reiseberater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10149840" cy="8229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Natuerliche Sprache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'Ich will nach Thailand' — der Bot erkennt Ziel, extrahiert IATA-Codes, startet Suche.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71800"/>
            <a:ext cx="411480" cy="411480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900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926080"/>
            <a:ext cx="10149840" cy="8229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37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JSON Mode erzwingt valide API-Antworten fuer Flug-/Hotel-Datenextraktion.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886200"/>
            <a:ext cx="411480" cy="411480"/>
          </a:xfrm>
          <a:prstGeom prst="ellipse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044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840480"/>
            <a:ext cx="10149840" cy="8229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10+ Intent-Typen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51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Flug, Hotel, Paket, Inspiration, Vergleich, Packliste, Budget, Visa, Wetter, Planung.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800600"/>
            <a:ext cx="411480" cy="411480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188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754880"/>
            <a:ext cx="10149840" cy="8229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4828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Suggested Replies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166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Kontextbezogene Quick-Reply-Buttons nach jeder Bot-Antwort.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715000"/>
            <a:ext cx="411480" cy="411480"/>
          </a:xfrm>
          <a:prstGeom prst="ellipse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73328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669280"/>
            <a:ext cx="10149840" cy="8229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742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 Visa-Check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6080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Bei jeder Reiseanfrage automatischer Visa-Check + Auswaertiges Amt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Structured Output &amp; Intent-Erkennung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System-Prompt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029200" cy="38404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0545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Reise-Buddy Persona (locker, hilfsbereit)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578608"/>
            <a:ext cx="164592" cy="164592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907792"/>
            <a:ext cx="5029200" cy="38404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Proaktives Verhalten (wie Booking.com &amp; Kayak)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17520"/>
            <a:ext cx="164592" cy="164592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5029200" cy="38404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Paket-Empfehlungen (Flug + Hotel Kombination)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456432"/>
            <a:ext cx="164592" cy="164592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85616"/>
            <a:ext cx="5029200" cy="38404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Saisonale Tipps &amp; Geheimtipps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3895344"/>
            <a:ext cx="164592" cy="164592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224528"/>
            <a:ext cx="5029200" cy="38404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61104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Kulturelle Hinweise fuer Ziellaender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4334256"/>
            <a:ext cx="164592" cy="164592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5029200" cy="38404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0001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Kontext-Merken (Budget, Praeferenzen, Name)</a:t>
            </a:r>
          </a:p>
        </p:txBody>
      </p:sp>
      <p:sp>
        <p:nvSpPr>
          <p:cNvPr id="23" name="Oval 22"/>
          <p:cNvSpPr/>
          <p:nvPr/>
        </p:nvSpPr>
        <p:spPr>
          <a:xfrm>
            <a:off x="804672" y="4773168"/>
            <a:ext cx="164592" cy="164592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102352"/>
            <a:ext cx="5029200" cy="38404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13892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  Max 2-3 Saetze (Token-effizient)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" y="5212080"/>
            <a:ext cx="164592" cy="164592"/>
          </a:xfrm>
          <a:prstGeom prst="ellipse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Structured Output (JSON Mode)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468880"/>
            <a:ext cx="5029200" cy="219456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D158"/>
                </a:solidFill>
                <a:latin typeface="Calibri"/>
              </a:defRPr>
            </a:pPr>
            <a:r>
              <a:t>response_format = {"type": "json_object"}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Vorteile gegenueber Standard-Output: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3375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Garantiert valides JSON (kein Regex-Parsing noetig)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95% Genauigkeit bei Datenextraktion (vs. 60% Zero-Shot)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temperature=0.3 fuer konsistente JSON-Antworten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temperature=0.7 fuer natuerlichen Chat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Modell-Vergleich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303520"/>
            <a:ext cx="5029200" cy="109728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349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Modell          Status          Kosten/1K      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6235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D158"/>
                </a:solidFill>
                <a:latin typeface="Calibri"/>
              </a:defRPr>
            </a:pPr>
            <a:r>
              <a:t>GPT-4o-mini       Gewaehlt        $0.00015/1K      0.5-1.5s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852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GPT-4o       Zu teuer        $0.005/1K      2-4s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080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GPT-3.5       Schwach DE        $0.0005/1K      0.3-1s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Datenbank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SQLite Schema (4 Tabellen)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SearchHistory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14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C8FA"/>
                </a:solidFill>
                <a:latin typeface="Calibri"/>
              </a:defRPr>
            </a:pPr>
            <a:r>
              <a:t>INTEGER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PK, 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from_airport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072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C8FA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807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IATA-Code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9981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to_airport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998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C8FA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09981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IATA-Code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924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92423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C8FA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39242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YYYY-MM-DD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8503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timestamp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8503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C8FA"/>
                </a:solidFill>
                <a:latin typeface="Calibri"/>
              </a:defRPr>
            </a:pPr>
            <a:r>
              <a:t>DATETIME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6850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UTC Default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011680"/>
            <a:ext cx="2743200" cy="1536192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37560" y="201168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20299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ChatCache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514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514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F5AF2"/>
                </a:solidFill>
                <a:latin typeface="Calibri"/>
              </a:defRPr>
            </a:pPr>
            <a:r>
              <a:t>INTEGER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PK, AUTO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807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8072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F5AF2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807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INDEXED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09981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0998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F5AF2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09981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Gecachte Antwort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33924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created_at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392423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F5AF2"/>
                </a:solidFill>
                <a:latin typeface="Calibri"/>
              </a:defRPr>
            </a:pPr>
            <a:r>
              <a:t>DATETIME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39242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UTC Default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011680"/>
            <a:ext cx="2743200" cy="2706624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17920" y="201168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20299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CartItem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2514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2514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D158"/>
                </a:solidFill>
                <a:latin typeface="Calibri"/>
              </a:defRPr>
            </a:pPr>
            <a:r>
              <a:t>INTEGER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PK, AUTO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2807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session_id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28072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D158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2807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INDEXED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59" y="309981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item_type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30998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D158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309981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flight/hotel/activity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33924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item_data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3392423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D158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39242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JSON String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59" y="368503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368503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D158"/>
                </a:solidFill>
                <a:latin typeface="Calibri"/>
              </a:defRPr>
            </a:pPr>
            <a:r>
              <a:t>REAL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6850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Preis in EUR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59" y="397763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currency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39776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D158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39776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Default EUR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59" y="4270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quantity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0" y="4270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D158"/>
                </a:solidFill>
                <a:latin typeface="Calibri"/>
              </a:defRPr>
            </a:pPr>
            <a:r>
              <a:t>INTEGER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4270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Default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59" y="45628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added_at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456285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D158"/>
                </a:solidFill>
                <a:latin typeface="Calibri"/>
              </a:defRPr>
            </a:pPr>
            <a:r>
              <a:t>DATETIME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79" y="45628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UTC Default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2011680"/>
            <a:ext cx="2743200" cy="2414016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098280" y="2011680"/>
            <a:ext cx="2743200" cy="411480"/>
          </a:xfrm>
          <a:prstGeom prst="roundRect">
            <a:avLst>
              <a:gd name="adj" fmla="val 4000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98280" y="20299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Flight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9719" y="25146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95559" y="25146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0A"/>
                </a:solidFill>
                <a:latin typeface="Calibri"/>
              </a:defRPr>
            </a:pPr>
            <a:r>
              <a:t>INTEGER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35640" y="2514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PK, AUTO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9719" y="28072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origin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95559" y="28072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0A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35640" y="2807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Abflughafen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89719" y="3099815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destination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5559" y="3099815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0A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35640" y="3099815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Zielflughafen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19" y="339242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departure_date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95559" y="3392423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0A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835640" y="3392423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Datum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9719" y="368503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airline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195559" y="3685031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0A"/>
                </a:solidFill>
                <a:latin typeface="Calibri"/>
              </a:defRPr>
            </a:pPr>
            <a:r>
              <a:t>TEXT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35640" y="368503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Nullable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89719" y="397763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price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95559" y="3977639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0A"/>
                </a:solidFill>
                <a:latin typeface="Calibri"/>
              </a:defRPr>
            </a:pPr>
            <a:r>
              <a:t>REAL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35640" y="3977639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Nullable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89719" y="4270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stops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95559" y="4270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9F0A"/>
                </a:solidFill>
                <a:latin typeface="Calibri"/>
              </a:defRPr>
            </a:pPr>
            <a:r>
              <a:t>INTEGER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835640" y="427024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Calibri"/>
              </a:defRPr>
            </a:pPr>
            <a:r>
              <a:t>Nullable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Zusaetzlich: In-Memory User-DB (Demo-Auth) + Visa-Datenbank (45+ Laender) + Airport-DB (50+ Flughaefen)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Security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Produktionsreife Absicherung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75F"/>
                </a:solidFill>
                <a:latin typeface="Calibri"/>
              </a:defRPr>
            </a:pPr>
            <a:r>
              <a:t>Security-Massnahmen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029200" cy="47548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CORS Restricted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0662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Nur localhost Origins erlaubt (kein allow_origins=*)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90088"/>
            <a:ext cx="5029200" cy="47548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083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Security Headers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27832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X-Frame-Options, X-XSS-Protection, CSP, Referrer-Policy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11296"/>
            <a:ext cx="5029200" cy="47548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Input Sanitization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bleach.clean() gegen XSS, max_length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32504"/>
            <a:ext cx="5029200" cy="47548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5079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Passwort-Hashing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7024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bcrypt via passlib (kein Klartext)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53712"/>
            <a:ext cx="5029200" cy="47548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145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10-30 req/min pro Endpoint (SlowAPI)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5029200" cy="47548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932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Session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1266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UUID-Format, Laengen-Check, Sonderzeichen-Filter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96128"/>
            <a:ext cx="5029200" cy="47548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144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Pydantic Validators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33872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Typ-Pruefung, Wertebereiche, Format-Validierung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6117336"/>
            <a:ext cx="5029200" cy="47548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1356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Env-Var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35508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Startup-Check fuer alle API Keys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0D158"/>
                </a:solidFill>
                <a:latin typeface="Calibri"/>
              </a:defRPr>
            </a:pPr>
            <a:r>
              <a:t>Test Coverage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468880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468880"/>
            <a:ext cx="50800" cy="86868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542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test_api.py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5420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C8FA"/>
                </a:solidFill>
                <a:latin typeface="Calibri"/>
              </a:defRPr>
            </a:pPr>
            <a:r>
              <a:t>23 KB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880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 Endpoint Tests + Edge Cases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474720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474720"/>
            <a:ext cx="50800" cy="86868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547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test_services.py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547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F5AF2"/>
                </a:solidFill>
                <a:latin typeface="Calibri"/>
              </a:defRPr>
            </a:pPr>
            <a:r>
              <a:t>6 KB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886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Visa, Airport, Warn-Level Tests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480560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480560"/>
            <a:ext cx="50800" cy="86868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553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test_security.py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45537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375F"/>
                </a:solidFill>
                <a:latin typeface="Calibri"/>
              </a:defRPr>
            </a:pPr>
            <a:r>
              <a:t>17 KB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892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XSS, CORS, SQL-Injection, Auth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5486400"/>
            <a:ext cx="5029200" cy="86868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5486400"/>
            <a:ext cx="50800" cy="86868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5559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test_integration.py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55595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0A"/>
                </a:solidFill>
                <a:latin typeface="Calibri"/>
              </a:defRPr>
            </a:pPr>
            <a:r>
              <a:t>17 KB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897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Booking Flow, Chat History, Visa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035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0D158"/>
                </a:solidFill>
                <a:latin typeface="Calibri"/>
              </a:defRPr>
            </a:pPr>
            <a:r>
              <a:t>Total: 63 KB Testcode  |  4 Test-Suites  |  50+ Test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Apple Liquid Glass (iOS 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Farbpalette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#5AC8FA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Accent Blue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37744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5204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#BF5AF2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Accent Purple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7744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5204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#FF375F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Accent Pink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5204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#FF9F0A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Accent Orange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37744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5204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#30D158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Accent Green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2377440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35204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#0A0A0F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749039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Design-Prinzipien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5488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4754880"/>
            <a:ext cx="2697480" cy="381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Glasoberflaechen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backdrop-filter: blur(40px)</a:t>
            </a:r>
            <a:br/>
            <a:r>
              <a:t>transluzente Hintergruende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475488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66160" y="4754880"/>
            <a:ext cx="2697480" cy="381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Prismatische Raender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53035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Regenbogen-Lichtbrechung</a:t>
            </a:r>
            <a:br/>
            <a:r>
              <a:t>an Elementkanten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75488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754880"/>
            <a:ext cx="2697480" cy="38100"/>
          </a:xfrm>
          <a:prstGeom prst="rect">
            <a:avLst/>
          </a:prstGeom>
          <a:solidFill>
            <a:srgbClr val="FF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Ambient Orbs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3035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Grosse, weiche Farbkugeln</a:t>
            </a:r>
            <a:br/>
            <a:r>
              <a:t>im Hintergrund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4754880"/>
            <a:ext cx="2697480" cy="1463040"/>
          </a:xfrm>
          <a:prstGeom prst="roundRect">
            <a:avLst>
              <a:gd name="adj" fmla="val 6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4754880"/>
            <a:ext cx="2697480" cy="381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19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Responsive + A11y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19" y="530352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Mobile/Tablet + ARIA</a:t>
            </a:r>
            <a:br/>
            <a:r>
              <a:t>Labels + Focus States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GenAI Ethics &amp;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Verantwortungsvolle KI-Nutzung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0A"/>
                </a:solidFill>
                <a:latin typeface="Calibri"/>
              </a:defRPr>
            </a:pPr>
            <a:r>
              <a:t>Ethik-Massnahmen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054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Reisewarnungen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Automatische Warnung bei kritischen Laendern (Syrien, Afghanistan, etc.)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27248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63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198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Verhindert API-Missbrauch und schuetzt vor Ueberlastung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85615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22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Transparente Quellen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7822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Links zum Auswaertigen Amt statt eigene 'Fakten'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43983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Datenschutz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365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Keine persistente User-Speicherung, Session-basiert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02351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389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Token-Effizienz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9495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Lokale Lookups statt KI-Calls wo moeglich (0 Tokens fuer Visa)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60719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F0A"/>
                </a:solidFill>
                <a:latin typeface="Calibri"/>
              </a:defRPr>
            </a:pPr>
            <a:r>
              <a:t>Keine Halluzinationen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5332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Visa-Daten aus lokaler DB, nicht von GPT erfunden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AC8FA"/>
                </a:solidFill>
                <a:latin typeface="Calibri"/>
              </a:defRPr>
            </a:pPr>
            <a:r>
              <a:t>Data Preprocessing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468880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054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C8FA"/>
                </a:solidFill>
                <a:latin typeface="Calibri"/>
              </a:defRPr>
            </a:pPr>
            <a:r>
              <a:t>Input Sanitization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6148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bleach.clean() entfernt HTML-Tags und XSS-Vektoren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127248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163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C8FA"/>
                </a:solidFill>
                <a:latin typeface="Calibri"/>
              </a:defRPr>
            </a:pPr>
            <a:r>
              <a:t>Session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4198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Regex-Filter: nur alphanumerisch + Bindestrich/Unterstrich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85615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22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C8FA"/>
                </a:solidFill>
                <a:latin typeface="Calibri"/>
              </a:defRPr>
            </a:pPr>
            <a:r>
              <a:t>Pydantic Validators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07822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Typ-Pruefung, Wertebereiche (Preis 0-1M, Rolle in user/assistant)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443983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805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C8FA"/>
                </a:solidFill>
                <a:latin typeface="Calibri"/>
              </a:defRPr>
            </a:pPr>
            <a:r>
              <a:t>Date Parsing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7365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datetime.strptime() validiert YYYY-MM-DD Format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102351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138927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C8FA"/>
                </a:solidFill>
                <a:latin typeface="Calibri"/>
              </a:defRPr>
            </a:pPr>
            <a:r>
              <a:t>Country Normalization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39495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Aliase aufloesen: 'USA'/'Amerika'/'United States' -&gt; 'usa'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760719"/>
            <a:ext cx="5029200" cy="594360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79729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C8FA"/>
                </a:solidFill>
                <a:latin typeface="Calibri"/>
              </a:defRPr>
            </a:pPr>
            <a:r>
              <a:t>Chat History Limit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605332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Max 50 Nachrichten, max 5000 Zeichen pro Nachricht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20+ REST API Endpunkte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457200"/>
          </a:xfrm>
          <a:prstGeom prst="roundRect">
            <a:avLst>
              <a:gd name="adj" fmla="val 2000"/>
            </a:avLst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Methode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38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Endpunkt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38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Beschreibung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385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Rate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780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780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780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Health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780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70632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779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/airports?q=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79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Flughafen-Autocomplete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797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30/min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72384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81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081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/search_flights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081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Flugsuche via Skyscanner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081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10/min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374136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/search_hotels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Hotelsuche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383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10/min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675888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685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685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/search_destination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6850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Hotel-Ziel Autocomplete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685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30/min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977640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9867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0A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986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/chat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986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KI-Chat mit History + Intents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9867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20/min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279392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288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288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/smart_ask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288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Einfacher Chat (Legacy)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2885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10/min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581144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0A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/cart/add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Warenkorb: Hinzufuegen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5902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30/min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4882896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4892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/cart/{session_id}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Warenkorb: Abrufen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4892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30/min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184648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1937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375F"/>
                </a:solidFill>
                <a:latin typeface="Calibri"/>
              </a:defRPr>
            </a:pPr>
            <a:r>
              <a:t>DEL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5193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/cart/remove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5193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Warenkorb: Entfernen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5193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30/min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486400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" y="54955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375F"/>
                </a:solidFill>
                <a:latin typeface="Calibri"/>
              </a:defRPr>
            </a:pPr>
            <a:r>
              <a:t>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03120" y="5495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/cart/clear/{id}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5495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Warenkorb: Leeren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01200" y="549554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10/min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5788152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" y="5797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0A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03120" y="5797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/auth/login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5797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Benutzer-Login (bcrypt)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01200" y="57972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6089904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6099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F0A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03120" y="6099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/auth/register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6099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Registrierung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6099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1520" y="6391656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0312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/visa/{country}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0" y="6400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Visa-Informationen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6400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30/min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31520" y="6693408"/>
            <a:ext cx="10698480" cy="292608"/>
          </a:xfrm>
          <a:prstGeom prst="roundRect">
            <a:avLst>
              <a:gd name="adj" fmla="val 1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6702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0D15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03120" y="6702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/travel-info/{country}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0" y="6702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Kombinierte Reiseinfo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601200" y="6702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10/min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C8FA"/>
                </a:solidFill>
                <a:latin typeface="Calibri"/>
              </a:defRPr>
            </a:pPr>
            <a:r>
              <a:t>Zukunft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37160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D158"/>
                </a:solidFill>
                <a:latin typeface="Calibri"/>
              </a:defRPr>
            </a:pPr>
            <a:r>
              <a:t>Erledigt (V1)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Flugsuche mit Skyscanner API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523744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825496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437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KI-Chatbot mit GPT-4o-mini + Structured Output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2880360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182112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Hotelsuche mit Sky-Scrapper API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236976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538728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57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Visa-Informationen + Reisewarnungen (45+ Laender)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3593592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3895344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13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Warenkorb-System (Fluege, Hotels, Aktivitaeten)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3950208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Benutzer-Authentifizierung (bcrypt)</a:t>
            </a:r>
          </a:p>
        </p:txBody>
      </p:sp>
      <p:sp>
        <p:nvSpPr>
          <p:cNvPr id="23" name="Oval 22"/>
          <p:cNvSpPr/>
          <p:nvPr/>
        </p:nvSpPr>
        <p:spPr>
          <a:xfrm>
            <a:off x="804672" y="4306824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608576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268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Apple Liquid Glass Design System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" y="4663440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4965192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834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Mietwagen-Seite (funktional)</a:t>
            </a:r>
          </a:p>
        </p:txBody>
      </p:sp>
      <p:sp>
        <p:nvSpPr>
          <p:cNvPr id="29" name="Oval 28"/>
          <p:cNvSpPr/>
          <p:nvPr/>
        </p:nvSpPr>
        <p:spPr>
          <a:xfrm>
            <a:off x="804672" y="5020055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321807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4009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Aktivitaeten-Seite (funktional)</a:t>
            </a:r>
          </a:p>
        </p:txBody>
      </p:sp>
      <p:sp>
        <p:nvSpPr>
          <p:cNvPr id="32" name="Oval 31"/>
          <p:cNvSpPr/>
          <p:nvPr/>
        </p:nvSpPr>
        <p:spPr>
          <a:xfrm>
            <a:off x="804672" y="5376671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5678423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69671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Security: CORS, Headers, XSS-Schutz, Sanitization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5733287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6035039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60533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50+ Unit/Integration/Security Tests</a:t>
            </a:r>
          </a:p>
        </p:txBody>
      </p:sp>
      <p:sp>
        <p:nvSpPr>
          <p:cNvPr id="38" name="Oval 37"/>
          <p:cNvSpPr/>
          <p:nvPr/>
        </p:nvSpPr>
        <p:spPr>
          <a:xfrm>
            <a:off x="804672" y="6089903"/>
            <a:ext cx="219456" cy="219456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0A"/>
                </a:solidFill>
                <a:latin typeface="Calibri"/>
              </a:defRPr>
            </a:pPr>
            <a:r>
              <a:t>Geplant (V2)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468880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Zahlungsintegration (Stripe)</a:t>
            </a:r>
          </a:p>
        </p:txBody>
      </p:sp>
      <p:sp>
        <p:nvSpPr>
          <p:cNvPr id="42" name="Oval 41"/>
          <p:cNvSpPr/>
          <p:nvPr/>
        </p:nvSpPr>
        <p:spPr>
          <a:xfrm>
            <a:off x="6473952" y="2523744"/>
            <a:ext cx="219456" cy="219456"/>
          </a:xfrm>
          <a:prstGeom prst="ellipse">
            <a:avLst/>
          </a:prstGeom>
          <a:solidFill>
            <a:srgbClr val="1A1A28"/>
          </a:solidFill>
          <a:ln w="254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2825496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28437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Echte Mietwagen-API Anbindung</a:t>
            </a:r>
          </a:p>
        </p:txBody>
      </p:sp>
      <p:sp>
        <p:nvSpPr>
          <p:cNvPr id="45" name="Oval 44"/>
          <p:cNvSpPr/>
          <p:nvPr/>
        </p:nvSpPr>
        <p:spPr>
          <a:xfrm>
            <a:off x="6473952" y="2880360"/>
            <a:ext cx="219456" cy="219456"/>
          </a:xfrm>
          <a:prstGeom prst="ellipse">
            <a:avLst/>
          </a:prstGeom>
          <a:solidFill>
            <a:srgbClr val="1A1A28"/>
          </a:solidFill>
          <a:ln w="254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00800" y="3182112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Push-Benachrichtigungen (Preisalarm)</a:t>
            </a:r>
          </a:p>
        </p:txBody>
      </p:sp>
      <p:sp>
        <p:nvSpPr>
          <p:cNvPr id="48" name="Oval 47"/>
          <p:cNvSpPr/>
          <p:nvPr/>
        </p:nvSpPr>
        <p:spPr>
          <a:xfrm>
            <a:off x="6473952" y="3236976"/>
            <a:ext cx="219456" cy="219456"/>
          </a:xfrm>
          <a:prstGeom prst="ellipse">
            <a:avLst/>
          </a:prstGeom>
          <a:solidFill>
            <a:srgbClr val="1A1A28"/>
          </a:solidFill>
          <a:ln w="254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00800" y="3538728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3557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Progressive Web App (PWA)</a:t>
            </a:r>
          </a:p>
        </p:txBody>
      </p:sp>
      <p:sp>
        <p:nvSpPr>
          <p:cNvPr id="51" name="Oval 50"/>
          <p:cNvSpPr/>
          <p:nvPr/>
        </p:nvSpPr>
        <p:spPr>
          <a:xfrm>
            <a:off x="6473952" y="3593592"/>
            <a:ext cx="219456" cy="219456"/>
          </a:xfrm>
          <a:prstGeom prst="ellipse">
            <a:avLst/>
          </a:prstGeom>
          <a:solidFill>
            <a:srgbClr val="1A1A28"/>
          </a:solidFill>
          <a:ln w="254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00800" y="3895344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3913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Mehrsprachigkeit (EN, FR, ES)</a:t>
            </a:r>
          </a:p>
        </p:txBody>
      </p:sp>
      <p:sp>
        <p:nvSpPr>
          <p:cNvPr id="54" name="Oval 53"/>
          <p:cNvSpPr/>
          <p:nvPr/>
        </p:nvSpPr>
        <p:spPr>
          <a:xfrm>
            <a:off x="6473952" y="3950208"/>
            <a:ext cx="219456" cy="219456"/>
          </a:xfrm>
          <a:prstGeom prst="ellipse">
            <a:avLst/>
          </a:prstGeom>
          <a:solidFill>
            <a:srgbClr val="1A1A28"/>
          </a:solidFill>
          <a:ln w="254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0" y="4251960"/>
            <a:ext cx="5029200" cy="338328"/>
          </a:xfrm>
          <a:prstGeom prst="roundRect">
            <a:avLst>
              <a:gd name="adj" fmla="val 4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9400" y="4270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User-Profile &amp; Buchungsverlauf</a:t>
            </a:r>
          </a:p>
        </p:txBody>
      </p:sp>
      <p:sp>
        <p:nvSpPr>
          <p:cNvPr id="57" name="Oval 56"/>
          <p:cNvSpPr/>
          <p:nvPr/>
        </p:nvSpPr>
        <p:spPr>
          <a:xfrm>
            <a:off x="6473952" y="4306824"/>
            <a:ext cx="219456" cy="219456"/>
          </a:xfrm>
          <a:prstGeom prst="ellipse">
            <a:avLst/>
          </a:prstGeom>
          <a:solidFill>
            <a:srgbClr val="1A1A28"/>
          </a:solidFill>
          <a:ln w="25400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Projekt-Statistiken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52120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5257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AC8FA"/>
                </a:solidFill>
                <a:latin typeface="Calibri"/>
              </a:defRPr>
            </a:pPr>
            <a:r>
              <a:t>1.345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5778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Zeilen Backend (main.py)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92440" y="52120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5257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AC8FA"/>
                </a:solidFill>
                <a:latin typeface="Calibri"/>
              </a:defRPr>
            </a:pPr>
            <a:r>
              <a:t>4.495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92440" y="55778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Zeilen CSS (style.css)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84080" y="52120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84080" y="5257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AC8FA"/>
                </a:solidFill>
                <a:latin typeface="Calibri"/>
              </a:defRPr>
            </a:pPr>
            <a:r>
              <a:t>2.185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5778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Zeilen JavaScript (app.js)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598932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60350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AC8FA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6355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REST API Endpunkte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92440" y="598932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92440" y="60350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AC8F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2440" y="6355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Test-Suites / 50+ Tests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784080" y="598932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84080" y="603504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AC8FA"/>
                </a:solidFill>
                <a:latin typeface="Calibri"/>
              </a:defRPr>
            </a:pPr>
            <a:r>
              <a:t>45+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784080" y="63550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Laender mit Visa-Daten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1A0F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Vielen Dank!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3017520"/>
            <a:ext cx="1920240" cy="508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4A3B8"/>
                </a:solidFill>
                <a:latin typeface="Calibri"/>
              </a:defRPr>
            </a:pPr>
            <a:r>
              <a:t>Fragen &amp; Live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38912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4389120"/>
            <a:ext cx="2468880" cy="3810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480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AC8FA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github.com/sakhiaryan/FlyAi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38912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4389120"/>
            <a:ext cx="2468880" cy="3810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480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0D158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127.0.0.1:5500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389120"/>
            <a:ext cx="2468880" cy="822960"/>
          </a:xfrm>
          <a:prstGeom prst="roundRect">
            <a:avLst>
              <a:gd name="adj" fmla="val 8000"/>
            </a:avLst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4389120"/>
            <a:ext cx="2468880" cy="3810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44805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F5AF2"/>
                </a:solidFill>
                <a:latin typeface="Calibri"/>
              </a:defRPr>
            </a:pPr>
            <a:r>
              <a:t>API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800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127.0.0.1:8000/docs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Aryan Sakhi  |  Masterschool GenAI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